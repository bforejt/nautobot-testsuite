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16324F"/>
                </a:solidFill>
                <a:latin typeface="Calibri"/>
              </a:rPr>
              <a:t>Artifact-Driven Change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9572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5A646E"/>
                </a:solidFill>
                <a:latin typeface="Calibri"/>
              </a:rPr>
              <a:t>Capture everything. Describe it. Let the prompt focus the analysis.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6607" y="3977639"/>
            <a:ext cx="2331720" cy="1051560"/>
          </a:xfrm>
          <a:prstGeom prst="roundRect">
            <a:avLst>
              <a:gd name="adj" fmla="val 10000"/>
            </a:avLst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1262B"/>
                </a:solidFill>
                <a:latin typeface="Calibri"/>
              </a:rPr>
              <a:t>Impacted systems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1262B"/>
                </a:solidFill>
                <a:latin typeface="Calibri"/>
              </a:rPr>
              <a:t>APIs &amp; structured data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114903" y="4329683"/>
            <a:ext cx="384048" cy="34747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B9C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535527" y="3977639"/>
            <a:ext cx="2331720" cy="1051560"/>
          </a:xfrm>
          <a:prstGeom prst="roundRect">
            <a:avLst>
              <a:gd name="adj" fmla="val 10000"/>
            </a:avLst>
          </a:prstGeom>
          <a:solidFill>
            <a:srgbClr val="2C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Capture job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everything, before and after, into self-describing artifacts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903823" y="4329683"/>
            <a:ext cx="384048" cy="34747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B9C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24447" y="3977639"/>
            <a:ext cx="2331720" cy="1051560"/>
          </a:xfrm>
          <a:prstGeom prst="roundRect">
            <a:avLst>
              <a:gd name="adj" fmla="val 10000"/>
            </a:avLst>
          </a:prstGeom>
          <a:solidFill>
            <a:srgbClr val="B57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Per-change prompt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the engineer's test plan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692743" y="4329683"/>
            <a:ext cx="384048" cy="34747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B9C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13367" y="3977639"/>
            <a:ext cx="2331720" cy="1051560"/>
          </a:xfrm>
          <a:prstGeom prst="roundRect">
            <a:avLst>
              <a:gd name="adj" fmla="val 10000"/>
            </a:avLst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LLM analysis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verdict + findings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A646E"/>
                </a:solidFill>
                <a:latin typeface="Calibri"/>
              </a:rPr>
              <a:t>Proven in production — core firewall replacement,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6324F"/>
                </a:solidFill>
                <a:latin typeface="Calibri"/>
              </a:rPr>
              <a:t>How a change gets validated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C7A8C"/>
                </a:solidFill>
                <a:latin typeface="Calibri"/>
              </a:rPr>
              <a:t>CAPTURE  —  AUTOMATED, ALWAYS EVERYTHING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89888"/>
            <a:ext cx="1965960" cy="1417320"/>
          </a:xfrm>
          <a:prstGeom prst="roundRect">
            <a:avLst>
              <a:gd name="adj" fmla="val 10000"/>
            </a:avLst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1262B"/>
                </a:solidFill>
                <a:latin typeface="Calibri"/>
              </a:rPr>
              <a:t>Impacted systems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46E"/>
                </a:solidFill>
                <a:latin typeface="Calibri"/>
              </a:rPr>
              <a:t>every device the change touches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606040" y="1924812"/>
            <a:ext cx="777240" cy="34747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B9C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0" y="2336291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46E"/>
                </a:solidFill>
                <a:latin typeface="Calibri"/>
              </a:rPr>
              <a:t>APIs, read-only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389888"/>
            <a:ext cx="2743200" cy="1417320"/>
          </a:xfrm>
          <a:prstGeom prst="roundRect">
            <a:avLst>
              <a:gd name="adj" fmla="val 10000"/>
            </a:avLst>
          </a:prstGeom>
          <a:solidFill>
            <a:srgbClr val="2C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Capture job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grabs all the things, needed or not; adds descriptions, context, and an interpretation guide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309360" y="1924812"/>
            <a:ext cx="777240" cy="34747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B9C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178040" y="1389888"/>
            <a:ext cx="1874519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2C7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C7A8C"/>
                </a:solidFill>
                <a:latin typeface="Calibri"/>
              </a:rPr>
              <a:t>PRE artifacts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46E"/>
                </a:solidFill>
                <a:latin typeface="Calibri"/>
              </a:rPr>
              <a:t>one JSON per device, before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0" y="1682496"/>
            <a:ext cx="777240" cy="832104"/>
          </a:xfrm>
          <a:prstGeom prst="roundRect">
            <a:avLst>
              <a:gd name="adj" fmla="val 10000"/>
            </a:avLst>
          </a:prstGeom>
          <a:solidFill>
            <a:srgbClr val="FBF0DC"/>
          </a:solidFill>
          <a:ln w="15875">
            <a:solidFill>
              <a:srgbClr val="B572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B5721E"/>
                </a:solidFill>
                <a:latin typeface="Calibri"/>
              </a:rPr>
              <a:t>the change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12680" y="1389888"/>
            <a:ext cx="1874519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2C7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C7A8C"/>
                </a:solidFill>
                <a:latin typeface="Calibri"/>
              </a:rPr>
              <a:t>POST artifacts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46E"/>
                </a:solidFill>
                <a:latin typeface="Calibri"/>
              </a:rPr>
              <a:t>same capture, after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31012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5721E"/>
                </a:solidFill>
                <a:latin typeface="Calibri"/>
              </a:rPr>
              <a:t>ANALYZE  —  HUMAN INTENT, LLM LEGWORK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675887"/>
            <a:ext cx="3017520" cy="1508760"/>
          </a:xfrm>
          <a:prstGeom prst="roundRect">
            <a:avLst>
              <a:gd name="adj" fmla="val 10000"/>
            </a:avLst>
          </a:prstGeom>
          <a:solidFill>
            <a:srgbClr val="FBF0DC"/>
          </a:solidFill>
          <a:ln w="15875">
            <a:solidFill>
              <a:srgbClr val="B572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B5721E"/>
                </a:solidFill>
                <a:latin typeface="Calibri"/>
              </a:rPr>
              <a:t>Custom change prompt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1262B"/>
                </a:solidFill>
                <a:latin typeface="Calibri"/>
              </a:rPr>
              <a:t>written by the engineer: what changed, what “working” means (ranked), expected diffs, suspicions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3675887"/>
            <a:ext cx="365760" cy="1508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5A646E"/>
                </a:solidFill>
                <a:latin typeface="Calibri"/>
              </a:rPr>
              <a:t>+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23360" y="3675887"/>
            <a:ext cx="1965960" cy="1508760"/>
          </a:xfrm>
          <a:prstGeom prst="roundRect">
            <a:avLst>
              <a:gd name="adj" fmla="val 10000"/>
            </a:avLst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1262B"/>
                </a:solidFill>
                <a:latin typeface="Calibri"/>
              </a:rPr>
              <a:t>PRE + POST artifacts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46E"/>
                </a:solidFill>
                <a:latin typeface="Calibri"/>
              </a:rPr>
              <a:t>downloaded by the engineer from both captures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080760" y="4256531"/>
            <a:ext cx="731520" cy="34747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B9C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903720" y="3675887"/>
            <a:ext cx="1783080" cy="1508760"/>
          </a:xfrm>
          <a:prstGeom prst="roundRect">
            <a:avLst>
              <a:gd name="adj" fmla="val 10000"/>
            </a:avLst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Approved LLM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run by the engineer, outside the capture platform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778240" y="4256531"/>
            <a:ext cx="640080" cy="34747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B9C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509760" y="3675887"/>
            <a:ext cx="2377440" cy="1508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1632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6324F"/>
                </a:solidFill>
                <a:latin typeface="Calibri"/>
              </a:rPr>
              <a:t>Verdict first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A646E"/>
                </a:solidFill>
                <a:latin typeface="Calibri"/>
              </a:rPr>
              <a:t>then findings with evidence, then caveats — unknowns are unknowns, not clean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577840"/>
            <a:ext cx="11338560" cy="822960"/>
          </a:xfrm>
          <a:prstGeom prst="roundRect">
            <a:avLst>
              <a:gd name="adj" fmla="val 10000"/>
            </a:avLst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6324F"/>
                </a:solidFill>
                <a:latin typeface="Calibri"/>
              </a:rPr>
              <a:t>Read-only by construction — and the capture platform never contacts an LLM.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46E"/>
                </a:solidFill>
                <a:latin typeface="Calibri"/>
              </a:rPr>
              <a:t>Nothing in the capture path decides pass/fail: capture only records; judgment happens in the prompt-guided analysis.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6324F"/>
                </a:solidFill>
                <a:latin typeface="Calibri"/>
              </a:rPr>
              <a:t>The contract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651760" y="960120"/>
            <a:ext cx="6858000" cy="548640"/>
          </a:xfrm>
          <a:prstGeom prst="roundRect">
            <a:avLst>
              <a:gd name="adj" fmla="val 10000"/>
            </a:avLst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Files self-describe; the prompt describes the change.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5440680" cy="548640"/>
          </a:xfrm>
          <a:prstGeom prst="roundRect">
            <a:avLst>
              <a:gd name="adj" fmla="val 10000"/>
            </a:avLst>
          </a:prstGeom>
          <a:solidFill>
            <a:srgbClr val="2C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THE ARTIFACT  —  designed once per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377440"/>
            <a:ext cx="5440680" cy="3246120"/>
          </a:xfrm>
          <a:prstGeom prst="roundRect">
            <a:avLst>
              <a:gd name="adj" fmla="val 10000"/>
            </a:avLst>
          </a:prstGeom>
          <a:solidFill>
            <a:srgbClr val="E3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 marL="190500" indent="-190500"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21262B"/>
                </a:solidFill>
                <a:latin typeface="Calibri"/>
              </a:rPr>
              <a:t>•  Everything the platform can report, needed or not — unused features record as “not present”</a:t>
            </a:r>
          </a:p>
          <a:p>
            <a:pPr algn="l" marL="190500" indent="-190500"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21262B"/>
                </a:solidFill>
                <a:latin typeface="Calibri"/>
              </a:rPr>
              <a:t>•  Every check — one named slice of state (routes, sessions, licenses…) — carries a plain-language description and what a miss would mean</a:t>
            </a:r>
          </a:p>
          <a:p>
            <a:pPr algn="l" marL="190500" indent="-190500"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21262B"/>
                </a:solidFill>
                <a:latin typeface="Calibri"/>
              </a:rPr>
              <a:t>•  Curated context rides along: device role, location, and a note of the change underway</a:t>
            </a:r>
          </a:p>
          <a:p>
            <a:pPr algn="l" marL="190500" indent="-190500"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21262B"/>
                </a:solidFill>
                <a:latin typeface="Calibri"/>
              </a:rPr>
              <a:t>•  An embedded interpretation guide — one file explains itself</a:t>
            </a:r>
          </a:p>
          <a:p>
            <a:pPr algn="l" marL="190500" indent="-190500"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21262B"/>
                </a:solidFill>
                <a:latin typeface="Calibri"/>
              </a:rPr>
              <a:t>•  Its structure knows nothing about any particular change — intent lives in the prompt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99632" y="1828800"/>
            <a:ext cx="5440680" cy="548640"/>
          </a:xfrm>
          <a:prstGeom prst="roundRect">
            <a:avLst>
              <a:gd name="adj" fmla="val 10000"/>
            </a:avLst>
          </a:prstGeom>
          <a:solidFill>
            <a:srgbClr val="B57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THE PROMPT  —  written per change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2377440"/>
            <a:ext cx="5440680" cy="3246120"/>
          </a:xfrm>
          <a:prstGeom prst="roundRect">
            <a:avLst>
              <a:gd name="adj" fmla="val 10000"/>
            </a:avLst>
          </a:prstGeom>
          <a:solidFill>
            <a:srgbClr val="FB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 marL="190500" indent="-190500">
              <a:spcBef>
                <a:spcPts val="0"/>
              </a:spcBef>
              <a:spcAft>
                <a:spcPts val="2200"/>
              </a:spcAft>
            </a:pPr>
            <a:r>
              <a:rPr sz="1400" b="0" i="0">
                <a:solidFill>
                  <a:srgbClr val="21262B"/>
                </a:solidFill>
                <a:latin typeface="Calibri"/>
              </a:rPr>
              <a:t>•  What the change is — topology, before/after intent</a:t>
            </a:r>
          </a:p>
          <a:p>
            <a:pPr algn="l" marL="190500" indent="-190500">
              <a:spcBef>
                <a:spcPts val="0"/>
              </a:spcBef>
              <a:spcAft>
                <a:spcPts val="2200"/>
              </a:spcAft>
            </a:pPr>
            <a:r>
              <a:rPr sz="1400" b="0" i="0">
                <a:solidFill>
                  <a:srgbClr val="21262B"/>
                </a:solidFill>
                <a:latin typeface="Calibri"/>
              </a:rPr>
              <a:t>•  What “working” means for this change — ranked</a:t>
            </a:r>
          </a:p>
          <a:p>
            <a:pPr algn="l" marL="190500" indent="-190500">
              <a:spcBef>
                <a:spcPts val="0"/>
              </a:spcBef>
              <a:spcAft>
                <a:spcPts val="2200"/>
              </a:spcAft>
            </a:pPr>
            <a:r>
              <a:rPr sz="1400" b="0" i="0">
                <a:solidFill>
                  <a:srgbClr val="21262B"/>
                </a:solidFill>
                <a:latin typeface="Calibri"/>
              </a:rPr>
              <a:t>•  What is expected to differ, so it is not reported as a finding</a:t>
            </a:r>
          </a:p>
          <a:p>
            <a:pPr algn="l" marL="190500" indent="-190500">
              <a:spcBef>
                <a:spcPts val="0"/>
              </a:spcBef>
              <a:spcAft>
                <a:spcPts val="2200"/>
              </a:spcAft>
            </a:pPr>
            <a:r>
              <a:rPr sz="1400" b="0" i="0">
                <a:solidFill>
                  <a:srgbClr val="21262B"/>
                </a:solidFill>
                <a:latin typeface="Calibri"/>
              </a:rPr>
              <a:t>•  What to be suspicious of — the engineer's intuition</a:t>
            </a:r>
          </a:p>
          <a:p>
            <a:pPr algn="l" marL="190500" indent="-190500">
              <a:spcBef>
                <a:spcPts val="0"/>
              </a:spcBef>
              <a:spcAft>
                <a:spcPts val="2200"/>
              </a:spcAft>
            </a:pPr>
            <a:r>
              <a:rPr sz="1400" b="0" i="0">
                <a:solidFill>
                  <a:srgbClr val="21262B"/>
                </a:solidFill>
                <a:latin typeface="Calibri"/>
              </a:rPr>
              <a:t>•  The output wanted: verdict first, findings with evidence, caveats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5A646E"/>
                </a:solidFill>
                <a:latin typeface="Calibri"/>
              </a:rPr>
              <a:t>The prompt never explains the data format — the files do that. The engineer spends every word on intent.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6324F"/>
                </a:solidFill>
                <a:latin typeface="Calibri"/>
              </a:rPr>
              <a:t>Replicating to a new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6868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646E"/>
                </a:solidFill>
                <a:latin typeface="Calibri"/>
              </a:rPr>
              <a:t>Three things must exist before the first real change uses 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3611880" cy="2743200"/>
          </a:xfrm>
          <a:prstGeom prst="roundRect">
            <a:avLst>
              <a:gd name="adj" fmla="val 10000"/>
            </a:avLst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01368"/>
            <a:ext cx="502920" cy="502920"/>
          </a:xfrm>
          <a:prstGeom prst="ellipse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837943"/>
            <a:ext cx="2606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6324F"/>
                </a:solidFill>
                <a:latin typeface="Calibri"/>
              </a:rPr>
              <a:t>Establish connectivity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31546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1262B"/>
                </a:solidFill>
                <a:latin typeface="Calibri"/>
              </a:rPr>
              <a:t>Prove you can ask. An API or structured CLI, read-only by construction, working credentials, and the transport quirks solved — TLS levels, pagers, timeouts.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178807" y="2834640"/>
            <a:ext cx="219456" cy="27432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B9C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16552" y="1600200"/>
            <a:ext cx="3611880" cy="2743200"/>
          </a:xfrm>
          <a:prstGeom prst="roundRect">
            <a:avLst>
              <a:gd name="adj" fmla="val 10000"/>
            </a:avLst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617720" y="1801368"/>
            <a:ext cx="502920" cy="502920"/>
          </a:xfrm>
          <a:prstGeom prst="ellipse">
            <a:avLst/>
          </a:prstGeom>
          <a:solidFill>
            <a:srgbClr val="2C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39512" y="1837943"/>
            <a:ext cx="2606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C7A8C"/>
                </a:solidFill>
                <a:latin typeface="Calibri"/>
              </a:rPr>
              <a:t>Define “all the things”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5152" y="2514600"/>
            <a:ext cx="31546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1262B"/>
                </a:solidFill>
                <a:latin typeface="Calibri"/>
              </a:rPr>
              <a:t>Enumerate the platform's full observable state and capture it every run. Over-collecting is fine; unused features are information, not noise. Give every check a description an LLM can act on.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046720" y="2834640"/>
            <a:ext cx="219456" cy="27432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B9C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84464" y="1600200"/>
            <a:ext cx="3611880" cy="2743200"/>
          </a:xfrm>
          <a:prstGeom prst="roundRect">
            <a:avLst>
              <a:gd name="adj" fmla="val 10000"/>
            </a:avLst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85632" y="1801368"/>
            <a:ext cx="502920" cy="502920"/>
          </a:xfrm>
          <a:prstGeom prst="ellipse">
            <a:avLst/>
          </a:prstGeom>
          <a:solidFill>
            <a:srgbClr val="B57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07424" y="1837943"/>
            <a:ext cx="2606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B5721E"/>
                </a:solidFill>
                <a:latin typeface="Calibri"/>
              </a:rPr>
              <a:t>Shape the prompt approach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13064" y="2514600"/>
            <a:ext cx="31546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1262B"/>
                </a:solidFill>
                <a:latin typeface="Calibri"/>
              </a:rPr>
              <a:t>Start a prompt template for the platform's change types: the change, ranked success criteria, expected diffs, the output format. The engineer's intuition lives here.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800600"/>
            <a:ext cx="11338560" cy="960120"/>
          </a:xfrm>
          <a:prstGeom prst="roundRect">
            <a:avLst>
              <a:gd name="adj" fmla="val 10000"/>
            </a:avLst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21262B"/>
                </a:solidFill>
                <a:latin typeface="Calibri"/>
              </a:rPr>
              <a:t>Then field-harden: every real capture tunes commands, parsers, and descriptions against what devices actually say.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46E"/>
                </a:solidFill>
                <a:latin typeface="Calibri"/>
              </a:rPr>
              <a:t>Template proven on PAN-OS and IOS-XE — 47 checks, production firewall replacement validated August 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